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Lexend Deca Light"/>
      <p:regular r:id="rId13"/>
      <p:bold r:id="rId14"/>
    </p:embeddedFont>
    <p:embeddedFont>
      <p:font typeface="Lexend Dec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exendDecaLigh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Deca-regular.fntdata"/><Relationship Id="rId14" Type="http://schemas.openxmlformats.org/officeDocument/2006/relationships/font" Target="fonts/LexendDecaLight-bold.fntdata"/><Relationship Id="rId16" Type="http://schemas.openxmlformats.org/officeDocument/2006/relationships/font" Target="fonts/LexendDec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31f3a4e95_2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31f3a4e95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31f3a4e95_2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31f3a4e95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31f3a4e95_2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31f3a4e95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42525" y="42525"/>
            <a:ext cx="2000100" cy="2000100"/>
          </a:xfrm>
          <a:prstGeom prst="ellipse">
            <a:avLst/>
          </a:prstGeom>
          <a:gradFill>
            <a:gsLst>
              <a:gs pos="0">
                <a:srgbClr val="00FFFF">
                  <a:alpha val="54117"/>
                </a:srgbClr>
              </a:gs>
              <a:gs pos="73000">
                <a:srgbClr val="00FFFF">
                  <a:alpha val="0"/>
                </a:srgbClr>
              </a:gs>
              <a:gs pos="100000">
                <a:srgbClr val="00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Lexend Deca"/>
              <a:buChar char="⬡"/>
              <a:defRPr sz="3000">
                <a:latin typeface="Lexend Deca"/>
                <a:ea typeface="Lexend Deca"/>
                <a:cs typeface="Lexend Deca"/>
                <a:sym typeface="Lexend Deca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826414" y="656117"/>
            <a:ext cx="6138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sz="72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⬡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3" type="body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>
            <p:ph idx="1" type="body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· Small circuit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· Big circuit">
  <p:cSld name="BLANK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indent="-3810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indent="-3810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indent="-3810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indent="-3810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indent="-3810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indent="-3810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indent="-3810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indent="-3810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500">
        <p:fade thruBlk="1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11" Type="http://schemas.openxmlformats.org/officeDocument/2006/relationships/image" Target="../media/image5.png"/><Relationship Id="rId10" Type="http://schemas.openxmlformats.org/officeDocument/2006/relationships/image" Target="../media/image18.png"/><Relationship Id="rId12" Type="http://schemas.openxmlformats.org/officeDocument/2006/relationships/image" Target="../media/image19.png"/><Relationship Id="rId9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11" Type="http://schemas.openxmlformats.org/officeDocument/2006/relationships/image" Target="../media/image5.png"/><Relationship Id="rId10" Type="http://schemas.openxmlformats.org/officeDocument/2006/relationships/image" Target="../media/image18.png"/><Relationship Id="rId9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502800" y="567300"/>
            <a:ext cx="45390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FINANCE IQ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475" y="1050906"/>
            <a:ext cx="1782850" cy="20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528000" y="2116550"/>
            <a:ext cx="44886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Know your money. Own your future.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</a:br>
            <a:r>
              <a:rPr lang="en" sz="18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A platform that boosts financial literacy through interactive, personalized learning.</a:t>
            </a:r>
            <a:endParaRPr sz="18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011275" y="1742775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Madeline Yash Timothy Londyn Menna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Who? What?</a:t>
            </a:r>
            <a:endParaRPr/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741650" y="1338850"/>
            <a:ext cx="6898500" cy="3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Who is this for?</a:t>
            </a:r>
            <a:endParaRPr b="1" sz="1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Anyone wanting to understand their money better</a:t>
            </a:r>
            <a:endParaRPr sz="1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Beginners, learners, and those seeking financial clarity</a:t>
            </a:r>
            <a:endParaRPr sz="1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People who want simple, actionable guidance</a:t>
            </a:r>
            <a:endParaRPr sz="1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What is Finance IQ?</a:t>
            </a:r>
            <a:endParaRPr b="1" sz="1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A modern financial literacy platform</a:t>
            </a:r>
            <a:endParaRPr sz="1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Combines education, self‑assessment, and real‑world tools</a:t>
            </a:r>
            <a:endParaRPr sz="1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Designed to be approachable, personalized, and practical</a:t>
            </a:r>
            <a:endParaRPr sz="1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</a:t>
            </a:r>
            <a:endParaRPr/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741650" y="1338850"/>
            <a:ext cx="7640100" cy="3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The Vision</a:t>
            </a:r>
            <a:endParaRPr b="1" sz="17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Deca"/>
              <a:buChar char="●"/>
            </a:pPr>
            <a:r>
              <a:rPr lang="en" sz="17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A single hub for financial learning</a:t>
            </a:r>
            <a:endParaRPr sz="17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Deca"/>
              <a:buChar char="●"/>
            </a:pPr>
            <a:r>
              <a:rPr lang="en" sz="17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Personalized guidance based on real behavior</a:t>
            </a:r>
            <a:endParaRPr sz="17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Deca"/>
              <a:buChar char="●"/>
            </a:pPr>
            <a:r>
              <a:rPr lang="en" sz="17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Tools that turn knowledge into action</a:t>
            </a:r>
            <a:endParaRPr sz="17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Long‑Term Goal</a:t>
            </a:r>
            <a:endParaRPr b="1" sz="17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Deca"/>
              <a:buChar char="●"/>
            </a:pPr>
            <a:r>
              <a:rPr lang="en" sz="17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Empower users to build confidence, make informed decisions, and </a:t>
            </a:r>
            <a:endParaRPr sz="17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take control of their financial future.</a:t>
            </a:r>
            <a:endParaRPr sz="17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4294967295" type="ctrTitle"/>
          </p:nvPr>
        </p:nvSpPr>
        <p:spPr>
          <a:xfrm>
            <a:off x="384850" y="302100"/>
            <a:ext cx="45582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Two Questionnaires</a:t>
            </a:r>
            <a:endParaRPr sz="3500"/>
          </a:p>
        </p:txBody>
      </p:sp>
      <p:sp>
        <p:nvSpPr>
          <p:cNvPr id="88" name="Google Shape;88;p16"/>
          <p:cNvSpPr txBox="1"/>
          <p:nvPr>
            <p:ph idx="4294967295" type="subTitle"/>
          </p:nvPr>
        </p:nvSpPr>
        <p:spPr>
          <a:xfrm>
            <a:off x="685800" y="1631675"/>
            <a:ext cx="5528700" cy="302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Questionnaire 1  Knowledge Builder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Generic, foundational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Focused on immediate education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Covers budgeting, credit, saving, investing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Questionnaire 2  Personal Assessment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Evaluates habits and confidence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More personalized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"/>
              <a:buChar char="●"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Provides feedback and guidance at the end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580550" y="205975"/>
            <a:ext cx="6014400" cy="59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715400" y="860725"/>
            <a:ext cx="7501800" cy="31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Tagline :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Wanna get outta debt? Wanna learn how to make money?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How to target the demographic and future clients: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Advisor Collaboration Partner with financial advisors to recommend the platform and help users get started on financial literacy.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Google Sponsorship Secure high-ranking sponsored placement on Google to reach users actively searching for financial help.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Referral Contracts Explore formal contracts with advisors for structured referrals and platform onboarding.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 Deca"/>
                <a:ea typeface="Lexend Deca"/>
                <a:cs typeface="Lexend Deca"/>
                <a:sym typeface="Lexend Deca"/>
              </a:rPr>
              <a:t>Expert Endorsements Increase user trust through verified advisor endorsements and expert-backed credibility.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907" y="2494428"/>
            <a:ext cx="1656530" cy="99289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idx="4294967295" type="ctrTitle"/>
          </p:nvPr>
        </p:nvSpPr>
        <p:spPr>
          <a:xfrm>
            <a:off x="685900" y="241425"/>
            <a:ext cx="2982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Monetize</a:t>
            </a:r>
            <a:r>
              <a:rPr lang="en" sz="6000"/>
              <a:t> </a:t>
            </a:r>
            <a:endParaRPr sz="6000"/>
          </a:p>
        </p:txBody>
      </p:sp>
      <p:sp>
        <p:nvSpPr>
          <p:cNvPr id="106" name="Google Shape;106;p18"/>
          <p:cNvSpPr txBox="1"/>
          <p:nvPr>
            <p:ph idx="4294967295" type="subTitle"/>
          </p:nvPr>
        </p:nvSpPr>
        <p:spPr>
          <a:xfrm>
            <a:off x="195300" y="1660800"/>
            <a:ext cx="48831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latin typeface="Lexend Deca"/>
                <a:ea typeface="Lexend Deca"/>
                <a:cs typeface="Lexend Deca"/>
                <a:sym typeface="Lexend Deca"/>
              </a:rPr>
              <a:t>Partner with third-party financial advisors</a:t>
            </a:r>
            <a:endParaRPr sz="1800">
              <a:latin typeface="Lexend Deca"/>
              <a:ea typeface="Lexend Deca"/>
              <a:cs typeface="Lexend Deca"/>
              <a:sym typeface="Lexend De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latin typeface="Lexend Deca"/>
                <a:ea typeface="Lexend Deca"/>
                <a:cs typeface="Lexend Deca"/>
                <a:sym typeface="Lexend Deca"/>
              </a:rPr>
              <a:t>Advisors pay a contract fee for user referrals</a:t>
            </a:r>
            <a:endParaRPr sz="1800">
              <a:latin typeface="Lexend Deca"/>
              <a:ea typeface="Lexend Deca"/>
              <a:cs typeface="Lexend Deca"/>
              <a:sym typeface="Lexend De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latin typeface="Lexend Deca"/>
                <a:ea typeface="Lexend Deca"/>
                <a:cs typeface="Lexend Deca"/>
                <a:sym typeface="Lexend Deca"/>
              </a:rPr>
              <a:t>User data shared only with explicit consent</a:t>
            </a:r>
            <a:endParaRPr sz="1800">
              <a:latin typeface="Lexend Deca"/>
              <a:ea typeface="Lexend Deca"/>
              <a:cs typeface="Lexend Deca"/>
              <a:sym typeface="Lexend De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 Deca"/>
              <a:buChar char="●"/>
            </a:pPr>
            <a:r>
              <a:rPr lang="en" sz="1800">
                <a:latin typeface="Lexend Deca"/>
                <a:ea typeface="Lexend Deca"/>
                <a:cs typeface="Lexend Deca"/>
                <a:sym typeface="Lexend Deca"/>
              </a:rPr>
              <a:t>Also we offer premium personalized quizzes for a fee</a:t>
            </a:r>
            <a:endParaRPr sz="18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2776" y="1856782"/>
            <a:ext cx="395679" cy="455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812" y="1956701"/>
            <a:ext cx="395679" cy="455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3147" y="2460825"/>
            <a:ext cx="912610" cy="78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3147" y="2138497"/>
            <a:ext cx="912610" cy="78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8123" y="1299898"/>
            <a:ext cx="1022658" cy="656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80565" y="2047512"/>
            <a:ext cx="696668" cy="4559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8"/>
          <p:cNvCxnSpPr/>
          <p:nvPr/>
        </p:nvCxnSpPr>
        <p:spPr>
          <a:xfrm>
            <a:off x="7334497" y="3353465"/>
            <a:ext cx="545400" cy="314700"/>
          </a:xfrm>
          <a:prstGeom prst="straightConnector1">
            <a:avLst/>
          </a:prstGeom>
          <a:noFill/>
          <a:ln cap="rnd" cmpd="sng" w="156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8"/>
          <p:cNvCxnSpPr/>
          <p:nvPr/>
        </p:nvCxnSpPr>
        <p:spPr>
          <a:xfrm>
            <a:off x="5652712" y="2350061"/>
            <a:ext cx="459600" cy="265200"/>
          </a:xfrm>
          <a:prstGeom prst="straightConnector1">
            <a:avLst/>
          </a:prstGeom>
          <a:noFill/>
          <a:ln cap="rnd" cmpd="sng" w="15650">
            <a:solidFill>
              <a:schemeClr val="accent6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16" name="Google Shape;116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45558" y="1804434"/>
            <a:ext cx="156593" cy="4559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8"/>
          <p:cNvCxnSpPr/>
          <p:nvPr/>
        </p:nvCxnSpPr>
        <p:spPr>
          <a:xfrm flipH="1">
            <a:off x="5428683" y="3290898"/>
            <a:ext cx="768900" cy="444000"/>
          </a:xfrm>
          <a:prstGeom prst="straightConnector1">
            <a:avLst/>
          </a:prstGeom>
          <a:noFill/>
          <a:ln cap="rnd" cmpd="sng" w="156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8"/>
          <p:cNvCxnSpPr/>
          <p:nvPr/>
        </p:nvCxnSpPr>
        <p:spPr>
          <a:xfrm flipH="1">
            <a:off x="7294635" y="2412627"/>
            <a:ext cx="459600" cy="265200"/>
          </a:xfrm>
          <a:prstGeom prst="straightConnector1">
            <a:avLst/>
          </a:prstGeom>
          <a:noFill/>
          <a:ln cap="rnd" cmpd="sng" w="1565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19" name="Google Shape;119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52260" y="2922978"/>
            <a:ext cx="837090" cy="92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10808" y="3378677"/>
            <a:ext cx="353086" cy="491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217415" y="3510347"/>
            <a:ext cx="353086" cy="491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/>
          <p:nvPr/>
        </p:nvSpPr>
        <p:spPr>
          <a:xfrm>
            <a:off x="6641112" y="2029849"/>
            <a:ext cx="156600" cy="391500"/>
          </a:xfrm>
          <a:prstGeom prst="up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accent4"/>
              </a:gs>
              <a:gs pos="100000">
                <a:srgbClr val="00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75075" lIns="75075" spcFirstLastPara="1" rIns="75075" wrap="square" tIns="7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01" y="2280381"/>
            <a:ext cx="1577317" cy="94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6900" y="1673226"/>
            <a:ext cx="376759" cy="4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9762" y="1768368"/>
            <a:ext cx="376759" cy="4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7525" y="2248385"/>
            <a:ext cx="868970" cy="75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32309" y="1952787"/>
            <a:ext cx="868970" cy="75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95132" y="1142973"/>
            <a:ext cx="973755" cy="62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7168" y="1854836"/>
            <a:ext cx="663354" cy="434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9"/>
          <p:cNvCxnSpPr/>
          <p:nvPr/>
        </p:nvCxnSpPr>
        <p:spPr>
          <a:xfrm>
            <a:off x="7767648" y="3098339"/>
            <a:ext cx="519300" cy="299700"/>
          </a:xfrm>
          <a:prstGeom prst="straightConnector1">
            <a:avLst/>
          </a:prstGeom>
          <a:noFill/>
          <a:ln cap="rnd" cmpd="sng" w="1490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9"/>
          <p:cNvCxnSpPr/>
          <p:nvPr/>
        </p:nvCxnSpPr>
        <p:spPr>
          <a:xfrm>
            <a:off x="6166278" y="2142917"/>
            <a:ext cx="437700" cy="252600"/>
          </a:xfrm>
          <a:prstGeom prst="straightConnector1">
            <a:avLst/>
          </a:prstGeom>
          <a:noFill/>
          <a:ln cap="rnd" cmpd="sng" w="14900">
            <a:solidFill>
              <a:schemeClr val="accent6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37" name="Google Shape;137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49491" y="1623382"/>
            <a:ext cx="149105" cy="4341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9"/>
          <p:cNvCxnSpPr/>
          <p:nvPr/>
        </p:nvCxnSpPr>
        <p:spPr>
          <a:xfrm flipH="1">
            <a:off x="5952796" y="3038765"/>
            <a:ext cx="732300" cy="423000"/>
          </a:xfrm>
          <a:prstGeom prst="straightConnector1">
            <a:avLst/>
          </a:prstGeom>
          <a:noFill/>
          <a:ln cap="rnd" cmpd="sng" w="1490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9"/>
          <p:cNvCxnSpPr/>
          <p:nvPr/>
        </p:nvCxnSpPr>
        <p:spPr>
          <a:xfrm flipH="1">
            <a:off x="7729616" y="2202492"/>
            <a:ext cx="437700" cy="252600"/>
          </a:xfrm>
          <a:prstGeom prst="straightConnector1">
            <a:avLst/>
          </a:prstGeom>
          <a:noFill/>
          <a:ln cap="rnd" cmpd="sng" w="1490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40" name="Google Shape;14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84974" y="2688438"/>
            <a:ext cx="797060" cy="877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16402" y="3122346"/>
            <a:ext cx="336202" cy="46842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/>
          <p:nvPr/>
        </p:nvSpPr>
        <p:spPr>
          <a:xfrm>
            <a:off x="7107418" y="1838018"/>
            <a:ext cx="149100" cy="372600"/>
          </a:xfrm>
          <a:prstGeom prst="up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accent4"/>
              </a:gs>
              <a:gs pos="100000">
                <a:srgbClr val="00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71475" lIns="71475" spcFirstLastPara="1" rIns="71475" wrap="square" tIns="71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363800" y="512450"/>
            <a:ext cx="67437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</a:rPr>
              <a:t>Security Report and Remediation</a:t>
            </a:r>
            <a:endParaRPr b="1" sz="30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465475" y="1541125"/>
            <a:ext cx="54873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AI-driven security assessment conducted.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Evaluated against NIST and OWASP frameworks.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Identified vulnerabilities and risks.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Provided remediation recommendations.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Roadmap for fixing security issues.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" sz="2000">
                <a:solidFill>
                  <a:schemeClr val="lt1"/>
                </a:solidFill>
              </a:rPr>
              <a:t>Next Step would be to </a:t>
            </a:r>
            <a:r>
              <a:rPr lang="en" sz="2000">
                <a:solidFill>
                  <a:schemeClr val="lt1"/>
                </a:solidFill>
              </a:rPr>
              <a:t>remediate</a:t>
            </a:r>
            <a:r>
              <a:rPr lang="en" sz="2000">
                <a:solidFill>
                  <a:schemeClr val="lt1"/>
                </a:solidFill>
              </a:rPr>
              <a:t> the security issue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0"/>
          <p:cNvSpPr txBox="1"/>
          <p:nvPr>
            <p:ph idx="4294967295" type="ctrTitle"/>
          </p:nvPr>
        </p:nvSpPr>
        <p:spPr>
          <a:xfrm>
            <a:off x="464725" y="151175"/>
            <a:ext cx="5914200" cy="55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The Next Step </a:t>
            </a:r>
            <a:endParaRPr sz="3400"/>
          </a:p>
        </p:txBody>
      </p:sp>
      <p:sp>
        <p:nvSpPr>
          <p:cNvPr id="151" name="Google Shape;151;p20"/>
          <p:cNvSpPr txBox="1"/>
          <p:nvPr>
            <p:ph idx="4294967295" type="subTitle"/>
          </p:nvPr>
        </p:nvSpPr>
        <p:spPr>
          <a:xfrm>
            <a:off x="301350" y="826700"/>
            <a:ext cx="8627700" cy="31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latin typeface="Lexend Deca"/>
                <a:ea typeface="Lexend Deca"/>
                <a:cs typeface="Lexend Deca"/>
                <a:sym typeface="Lexend Deca"/>
              </a:rPr>
              <a:t> Third‑Party Financial Advisor Revenue</a:t>
            </a:r>
            <a:endParaRPr sz="1500">
              <a:latin typeface="Lexend Deca"/>
              <a:ea typeface="Lexend Deca"/>
              <a:cs typeface="Lexend Deca"/>
              <a:sym typeface="Lexend Deca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Lexend Deca"/>
                <a:ea typeface="Lexend Deca"/>
                <a:cs typeface="Lexend Deca"/>
                <a:sym typeface="Lexend Deca"/>
              </a:rPr>
              <a:t>Advisors pay a referral/contract fee to be connected with users who </a:t>
            </a:r>
            <a:r>
              <a:rPr i="1" lang="en" sz="1500">
                <a:latin typeface="Lexend Deca"/>
                <a:ea typeface="Lexend Deca"/>
                <a:cs typeface="Lexend Deca"/>
                <a:sym typeface="Lexend Deca"/>
              </a:rPr>
              <a:t>consent</a:t>
            </a:r>
            <a:r>
              <a:rPr lang="en" sz="1500">
                <a:latin typeface="Lexend Deca"/>
                <a:ea typeface="Lexend Deca"/>
                <a:cs typeface="Lexend Deca"/>
                <a:sym typeface="Lexend Deca"/>
              </a:rPr>
              <a:t> to share their quiz results.</a:t>
            </a:r>
            <a:endParaRPr sz="1500">
              <a:latin typeface="Lexend Deca"/>
              <a:ea typeface="Lexend Deca"/>
              <a:cs typeface="Lexend Deca"/>
              <a:sym typeface="Lexend Dec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Lexend Deca"/>
                <a:ea typeface="Lexend Deca"/>
                <a:cs typeface="Lexend Deca"/>
                <a:sym typeface="Lexend Deca"/>
              </a:rPr>
              <a:t>You provide advisors with pre‑qualified leads based on clear financial gaps and user goals.</a:t>
            </a:r>
            <a:endParaRPr sz="1500">
              <a:latin typeface="Lexend Deca"/>
              <a:ea typeface="Lexend Deca"/>
              <a:cs typeface="Lexend Deca"/>
              <a:sym typeface="Lexend Dec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Lexend Deca"/>
                <a:ea typeface="Lexend Deca"/>
                <a:cs typeface="Lexend Deca"/>
                <a:sym typeface="Lexend Deca"/>
              </a:rPr>
              <a:t>This creates a high‑value, recurring revenue stream as more users seek personalized help.</a:t>
            </a:r>
            <a:endParaRPr sz="15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latin typeface="Lexend Deca"/>
                <a:ea typeface="Lexend Deca"/>
                <a:cs typeface="Lexend Deca"/>
                <a:sym typeface="Lexend Deca"/>
              </a:rPr>
              <a:t> Personalized Checklist + Premium Quiz</a:t>
            </a:r>
            <a:endParaRPr sz="1500">
              <a:latin typeface="Lexend Deca"/>
              <a:ea typeface="Lexend Deca"/>
              <a:cs typeface="Lexend Deca"/>
              <a:sym typeface="Lexend Deca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Lexend Deca"/>
                <a:ea typeface="Lexend Deca"/>
                <a:cs typeface="Lexend Deca"/>
                <a:sym typeface="Lexend Deca"/>
              </a:rPr>
              <a:t>Users receive a custom financial to‑do list based on their lowest‑scoring areas.</a:t>
            </a:r>
            <a:endParaRPr sz="1500">
              <a:latin typeface="Lexend Deca"/>
              <a:ea typeface="Lexend Deca"/>
              <a:cs typeface="Lexend Deca"/>
              <a:sym typeface="Lexend Dec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Lexend Deca"/>
                <a:ea typeface="Lexend Deca"/>
                <a:cs typeface="Lexend Deca"/>
                <a:sym typeface="Lexend Deca"/>
              </a:rPr>
              <a:t>A premium quiz upgrade unlocks deeper insights, advanced guidance, and downloadable reports.</a:t>
            </a:r>
            <a:endParaRPr sz="1500">
              <a:latin typeface="Lexend Deca"/>
              <a:ea typeface="Lexend Deca"/>
              <a:cs typeface="Lexend Deca"/>
              <a:sym typeface="Lexend Dec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Lexend Deca"/>
                <a:ea typeface="Lexend Deca"/>
                <a:cs typeface="Lexend Deca"/>
                <a:sym typeface="Lexend Deca"/>
              </a:rPr>
              <a:t>Returning users track progress, creating ongoing engagement and direct user revenue.</a:t>
            </a:r>
            <a:endParaRPr sz="15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500"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